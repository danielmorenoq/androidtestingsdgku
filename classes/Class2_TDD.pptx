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session we tested logic and UI concepts. Today we flip the order: tests first, then code. We close the pending item — testing an XML View with Espresso — and then build a Shopping Cart with strict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logic tested (LoginValidator). We do NOT have the view tested. That is today's first goal, and TDD is the method for everything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"We have logic tested. We do NOT have the view tested. That is today's first goal."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Red: write a failing test that fails for the RIGHT reason. Green: the simplest code that passes, even if it looks like cheating. Refactor: clean up while tests stay green. Then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Robert C. Martin's three laws. Rule 3 is the hard one for students — they want to write the whole class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TDD forces you to pin down behaviour up front. Every answer above becomes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Test-Driven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3DDC84"/>
                </a:solidFill>
                <a:latin typeface="Calibri"/>
              </a:rPr>
              <a:t>Class 2 — Red · Green · Refactor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F2F4F7"/>
                </a:solidFill>
                <a:latin typeface="Calibri"/>
              </a:rPr>
              <a:t>XML Views  ·  Espresso  ·  Espresso-Intents  ·  a Shopping Cart kata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1.  Unit, integration and UI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2.  TDD  ◀  today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3.  Mocks, stubs and fakes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4.  UI testing and CI/CD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5.  Fixing flaky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6.  Catching bugs, plus the exam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Today's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120640"/>
                <a:gridCol w="32004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Est.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Creating an XML Login View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Live coding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Navigation on successful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Live 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Testing the View with Espresso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Live coding + lab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 Shop screen (items 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Live 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Checkout — Shopping Cart via TDD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Lab (red/green/refactor)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Recap — and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Class 1: we unit-tested pure logic (LoginValidator)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rules are proven — but nothing tests the actual screen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Pending item: test an XML View with Espresso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Plan: put a UI on tested logic, then drive new logic with TDD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What is TDD?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Test-Driven Development: write the test before the code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test describes the behaviour you want next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You only write enough code to make it pass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Design emerges from the tests, not the other way around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test you never watched fail proves nothing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TDD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2926080" cy="164592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RED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write a failing test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78224" y="2606040"/>
            <a:ext cx="576072" cy="457200"/>
          </a:xfrm>
          <a:prstGeom prst="right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2011680"/>
            <a:ext cx="2926080" cy="164592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0D1B2A"/>
                </a:solidFill>
                <a:latin typeface="Calibri"/>
              </a:rPr>
              <a:t>GREEN</a:t>
            </a:r>
          </a:p>
          <a:p>
            <a:pPr algn="ctr"/>
            <a:r>
              <a:rPr sz="1800" b="0" i="0">
                <a:solidFill>
                  <a:srgbClr val="0D1B2A"/>
                </a:solidFill>
                <a:latin typeface="Calibri"/>
              </a:rPr>
              <a:t>simplest code to pass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90104" y="2606040"/>
            <a:ext cx="576072" cy="457200"/>
          </a:xfrm>
          <a:prstGeom prst="right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0" y="2011680"/>
            <a:ext cx="2926080" cy="164592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REFACTOR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clean up, stay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5A6A7A"/>
                </a:solidFill>
                <a:latin typeface="Calibri"/>
              </a:rPr>
              <a:t>↺  repeat  —  never write production code without a failing test 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three rules of TDD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0D1B2A"/>
                </a:solidFill>
                <a:latin typeface="Calibri"/>
              </a:rPr>
              <a:t>•  1.  No production code until you have a failing test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D1B2A"/>
                </a:solidFill>
                <a:latin typeface="Calibri"/>
              </a:rPr>
              <a:t>•  2.  No more of a test than is sufficient to fail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D1B2A"/>
                </a:solidFill>
                <a:latin typeface="Calibri"/>
              </a:rPr>
              <a:t>•  3.  No more production code than is sufficient to pass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0D1B2A"/>
                </a:solidFill>
                <a:latin typeface="Calibri"/>
              </a:rPr>
              <a:t>•  In a compiled language, a compile error IS a failing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RED — write a failing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Express one small piece of behaviour as a 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Run it and watch it fail — confirm it fails for the right reason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missing class or method that won't compile counts as red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This is where you discover what the API should look like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1737360"/>
            <a:ext cx="1097280" cy="1097280"/>
          </a:xfrm>
          <a:prstGeom prst="ellipse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GREEN — make it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Write the simplest code that turns the test green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Hardcoding a return value is allowed — even "cheating"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Do not add behaviour the tests don't yet demand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Green means safe: you now have a checkpoint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1737360"/>
            <a:ext cx="1097280" cy="1097280"/>
          </a:xfrm>
          <a:prstGeom prst="ellipse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REFACTOR — clean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Improve the code now that behaviour is locked in by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Remove duplication, name things, extract constants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Run the tests after every change — they must stay green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Fearless refactoring is the payoff of TDD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1737360"/>
            <a:ext cx="1097280" cy="1097280"/>
          </a:xfrm>
          <a:prstGeom prst="ellipse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TDD forces the requirements talk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Before any code, resolve the ambiguity in "apply a discount":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"Greater than 200" — is exactly 200 discounted?  →  No, strictly greater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Tiered or single bracket?  →  single: &gt;300 → 20%, else &gt;200 → 10%, else 0%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Remove an item that isn't there?  →  no-op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Duplicate items allowed?  →  yes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real value of TDD: the conversation happens before the code exists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Keep the Activity dumb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Activity's only job: read input → ask the validator → show error or navigate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No business logic in the Activity — it lives in tested classes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That is exactly what we assert with Espresso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Thin UI + tested logic = easy to test both layers</a:t>
            </a:r>
          </a:p>
        </p:txBody>
      </p:sp>
      <p:sp>
        <p:nvSpPr>
          <p:cNvPr id="7" name="Chevron 6"/>
          <p:cNvSpPr/>
          <p:nvPr/>
        </p:nvSpPr>
        <p:spPr>
          <a:xfrm>
            <a:off x="1188720" y="4663440"/>
            <a:ext cx="2926080" cy="1097280"/>
          </a:xfrm>
          <a:prstGeom prst="chevron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onView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matcher</a:t>
            </a:r>
          </a:p>
        </p:txBody>
      </p:sp>
      <p:sp>
        <p:nvSpPr>
          <p:cNvPr id="8" name="Chevron 7"/>
          <p:cNvSpPr/>
          <p:nvPr/>
        </p:nvSpPr>
        <p:spPr>
          <a:xfrm>
            <a:off x="3794760" y="4663440"/>
            <a:ext cx="2926080" cy="1097280"/>
          </a:xfrm>
          <a:prstGeom prst="chevron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perform</a:t>
            </a:r>
          </a:p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action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6400800" y="4663440"/>
            <a:ext cx="2926080" cy="1097280"/>
          </a:xfrm>
          <a:prstGeom prst="chevron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check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assertion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Espresso mental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0" i="0">
                <a:solidFill>
                  <a:srgbClr val="0D1B2A"/>
                </a:solidFill>
                <a:latin typeface="Calibri"/>
              </a:rPr>
              <a:t>•  onView( matcher )  →  find the view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D1B2A"/>
                </a:solidFill>
                <a:latin typeface="Calibri"/>
              </a:rPr>
              <a:t>•        .perform( action )  →  do something to it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D1B2A"/>
                </a:solidFill>
                <a:latin typeface="Calibri"/>
              </a:rPr>
              <a:t>•        .check( assertion )  →  verify something about it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D1B2A"/>
                </a:solidFill>
                <a:latin typeface="Calibri"/>
              </a:rPr>
              <a:t>•  Espresso synchronises with the UI thread automatically</a:t>
            </a:r>
          </a:p>
          <a:p>
            <a:pPr>
              <a:spcAft>
                <a:spcPts val="1000"/>
              </a:spcAft>
            </a:pPr>
            <a:r>
              <a:rPr sz="2100" b="0" i="0">
                <a:solidFill>
                  <a:srgbClr val="0D1B2A"/>
                </a:solidFill>
                <a:latin typeface="Calibri"/>
              </a:rPr>
              <a:t>•  So you never write Thread.sleep() — 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Espresso for Views —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Matchers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Actions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Assertions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withId()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click()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matches(isDisplayed())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withText()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typeText()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matches(withText(...))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withHint()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replaceText()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doesNotExist()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isDisplayed()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closeSoftKeyboard()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matches(isEnabled())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isEnabled()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scrollTo()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— custom matchers 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5A6A7A"/>
                </a:solidFill>
                <a:latin typeface="Calibri"/>
              </a:rPr>
              <a:t>Turn OFF device animations — Espresso's idling breaks with animations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Two rules that make Views testable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Every testable widget needs an android:id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withId() is Espresso's primary matcher — no id, no 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TextInputLayout owns the error; TextInputEditText owns the text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Assert errors on tilEmail, type text into inputEmail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Keep Activities dumb — push logic into testable classes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Testing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On valid login the Activity fires an Intent to the next screen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We care about the observable outcome: an Intent was sent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Espresso-Intents asserts it without launching the second screen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Intents.intended(hasComponent(ShopActivity::class.java.name))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Intents.assertNoUnverifiedIntents() — proves it did NOT navigate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Wrap tests with Intents.init() / Intents.release()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 custom matcher for TextInputLayout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20040"/>
            <a:ext cx="640080" cy="5029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B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 rIns="182880" bIns="182880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Espresso has no built-in error matcher for TextInputLayout — write one.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fun hasTextInputLayoutError(expected: String): Matcher&lt;View&gt; =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object : TypeSafeMatcher&lt;View&gt;()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override fun describeTo(description: Description)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    description.appendText("TextInputLayout with error: $expected")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override fun matchesSafely(view: View): Boolean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    if (view !is TextInputLayout) return false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    return view.error?.toString() == expected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Use it like any other assertion: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onView(withId(R.id.tilEmail))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.check(matches(hasTextInputLayoutError("Email is required")))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Shopping Cart kata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1.  New cart → subtotal is 0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2.  Add items to the cart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3.  Remove items from the cart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4.  Subtotal = sum of item prices, then apply a discount: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10% if subtotal &gt; 200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20% if subtotal &gt; 300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We build this class test-first, one behaviour at a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Test the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Bugs live at the edges: 200 and 300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exactly 200 → no discount   (strictly greater)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just over 200 (250) → 10%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exactly 300 → still 10%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over 300 (400) → 20%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&gt; vs &gt;= is the most common off-by-one in business rules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692640" y="1920240"/>
            <a:ext cx="2011680" cy="1828800"/>
          </a:xfrm>
          <a:prstGeom prst="triangl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Red → Green, in small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20040"/>
            <a:ext cx="640080" cy="5029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B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 rIns="182880" bIns="182880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RED: the first test doesn't even compile — that's our first failure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@Test fun `empty cart subtotal is zero`()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assertEquals(0.0, ShoppingCart().subtotal(), 0.001)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fun subtotal(): Double = 0.0                 // GREEN (hardcoded, on purpose)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RED: subtotal must add prices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@Test fun `subtotal adds up all item prices`() {  /* 80 + 45 = 125 */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fun subtotal(): Double = items.sumOf { it.price } // GREEN (0.0 test still passes)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7EC699"/>
                </a:solidFill>
                <a:latin typeface="Consolas"/>
              </a:rPr>
              <a:t>// RED: the discount boundaries, then GREEN: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private fun discountRate(raw: Double): Double = when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raw &gt; 300 -&gt; 0.20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raw &gt; 200 -&gt; 0.10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else      -&gt; 0.0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Regression safety,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Replacing the hardcoded 0.0 with a real sum keeps the empty-cart test green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sumOf on an empty list is 0.0 — the old behaviour is preserved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Extracting constants (TIER_1_RATE, thresholds) changes nothing observable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Run all tests after each refactor → still green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That safety net is why TDD lets you refactor without fear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Which test proves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3017520"/>
                <a:gridCol w="118872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Pure logic (ShoppingCart, LoginValidator)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JUnit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 rules are right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View, on the JVM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Robolectric + Espresso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~1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The screen wires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View, on a device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Espresso instrumented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It really works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Summary &amp; homework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Give every widget an id — it's your test API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Keep Activities dumb; push logic into testable classes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Test boundaries (200 and 300), not just happy paths</a:t>
            </a:r>
          </a:p>
          <a:p>
            <a:pPr>
              <a:spcAft>
                <a:spcPts val="1200"/>
              </a:spcAft>
            </a:pPr>
            <a:r>
              <a:rPr sz="2100" b="0" i="0">
                <a:solidFill>
                  <a:srgbClr val="F2F4F7"/>
                </a:solidFill>
                <a:latin typeface="Calibri"/>
              </a:rPr>
              <a:t>•  RED → GREEN → REFACTOR — never skip red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3DDC84"/>
                </a:solidFill>
                <a:latin typeface="Calibri"/>
              </a:rPr>
              <a:t>•  Homework: add quantity support with TDD (commit the red test separately)</a:t>
            </a:r>
          </a:p>
          <a:p>
            <a:pPr>
              <a:spcAft>
                <a:spcPts val="1200"/>
              </a:spcAft>
            </a:pPr>
            <a:r>
              <a:rPr sz="2100" b="1" i="0">
                <a:solidFill>
                  <a:srgbClr val="3DDC84"/>
                </a:solidFill>
                <a:latin typeface="Calibri"/>
              </a:rPr>
              <a:t>•  Homework: Espresso test that the cart resets after checkout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