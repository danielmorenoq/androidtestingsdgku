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 snapToObjects="1">
      <p:cViewPr varScale="1">
        <p:scale>
          <a:sx n="146" d="100"/>
          <a:sy n="146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990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Welcome. Today is the foundation. Every later class builds on these three test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Today is the foundation. Every later class builds on these three test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Ask the class: "Who has broken one feature while fixing another?"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Today we use only real classes. Replacing parts with fakes and mocks is class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Testing Android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3DDC84"/>
                </a:solidFill>
                <a:latin typeface="Calibri"/>
              </a:rPr>
              <a:t>Class 1 — Introduction to Unit, Integration and UI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 i="0">
                <a:solidFill>
                  <a:srgbClr val="F2F4F7"/>
                </a:solidFill>
                <a:latin typeface="Calibri"/>
              </a:rPr>
              <a:t>Tools: JUnit  ·  Espresso  ·  Robolectric  ·  Compose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Course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1.  Unit, integration and UI tests (today)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2.  TDD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3.  Mocks, stubs and fakes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4.  UI testing and CI/CD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5.  Fixing flaky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6.  Catching bugs, plus the exam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Why write tests?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Catch regressions before users do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Change code without fear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Tests document how the code should behave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Bugs cost more the later you find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What a test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Arrange: set up the data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Act: run the code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Assert: check the result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Good tests are fast, independent, repeatable and self-checking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Name tests as whatIsTested_condition_expectedResult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06240"/>
            <a:ext cx="2834640" cy="13716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Arrange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set up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5072" y="4663440"/>
            <a:ext cx="493776" cy="457200"/>
          </a:xfrm>
          <a:prstGeom prst="right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0" y="4206240"/>
            <a:ext cx="2834640" cy="137160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0D1B2A"/>
                </a:solidFill>
                <a:latin typeface="Calibri"/>
              </a:rPr>
              <a:t>Act</a:t>
            </a:r>
          </a:p>
          <a:p>
            <a:pPr algn="ctr"/>
            <a:r>
              <a:rPr sz="1800" b="0" i="0">
                <a:solidFill>
                  <a:srgbClr val="0D1B2A"/>
                </a:solidFill>
                <a:latin typeface="Calibri"/>
              </a:rPr>
              <a:t>run the code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79792" y="4663440"/>
            <a:ext cx="493776" cy="457200"/>
          </a:xfrm>
          <a:prstGeom prst="right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4206240"/>
            <a:ext cx="2834640" cy="13716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Assert</a:t>
            </a:r>
          </a:p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check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Unit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Test one class or function on its own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Take milliseconds and need no device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Example: "Does LoginValidator reject an empty email?"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103120"/>
            <a:ext cx="3108960" cy="2926080"/>
          </a:xfrm>
          <a:prstGeom prst="roundRect">
            <a:avLst/>
          </a:prstGeom>
          <a:solidFill>
            <a:srgbClr val="F2F4F7"/>
          </a:solidFill>
          <a:ln w="25400">
            <a:solidFill>
              <a:srgbClr val="1B4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0" y="2926080"/>
            <a:ext cx="2011680" cy="128016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LoginValidator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074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5A6A7A"/>
                </a:solidFill>
                <a:latin typeface="Calibri"/>
              </a:rPr>
              <a:t>one class, tested 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Integration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Test several real components working together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Catch problems where pieces connect: wrong data passed, wrong order, wrong assumptions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Example: "Does LoginService use the validator and the user store correctly?"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840480"/>
            <a:ext cx="2103120" cy="9144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LoginValidator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212080"/>
            <a:ext cx="2103120" cy="9144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26280"/>
            <a:ext cx="2194560" cy="91440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0D1B2A"/>
                </a:solidFill>
                <a:latin typeface="Calibri"/>
              </a:rPr>
              <a:t>LoginService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32120" y="4114800"/>
            <a:ext cx="594360" cy="365760"/>
          </a:xfrm>
          <a:prstGeom prst="right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5532120" y="5394960"/>
            <a:ext cx="594360" cy="365760"/>
          </a:xfrm>
          <a:prstGeom prst="rightArrow">
            <a:avLst/>
          </a:prstGeom>
          <a:solidFill>
            <a:srgbClr val="5A6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UI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Test from the user's point of view: type, click, see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most realistic test type, and the slowest and most fragile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Example: "After I tap Log in with no email, do I see 'Email is required'?"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737360"/>
            <a:ext cx="2468880" cy="420624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13648" y="2057400"/>
            <a:ext cx="2066543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23960" y="2514600"/>
            <a:ext cx="16459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23960" y="3200400"/>
            <a:ext cx="1645920" cy="457200"/>
          </a:xfrm>
          <a:prstGeom prst="roundRect">
            <a:avLst/>
          </a:prstGeom>
          <a:solidFill>
            <a:srgbClr val="F2F4F7"/>
          </a:solidFill>
          <a:ln w="12700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23960" y="3977640"/>
            <a:ext cx="1645920" cy="50292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Log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testing pyramid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Many unit tests, some integration tests, a few UI tests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 rough guide is 70 / 20 / 10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Higher up means slower, more realistic and more expensive to maintain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0" y="1828800"/>
            <a:ext cx="1828800" cy="1143000"/>
          </a:xfrm>
          <a:prstGeom prst="rect">
            <a:avLst/>
          </a:prstGeom>
          <a:solidFill>
            <a:srgbClr val="3DDC8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UI  10%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017520"/>
            <a:ext cx="3108960" cy="1143000"/>
          </a:xfrm>
          <a:prstGeom prst="rect">
            <a:avLst/>
          </a:prstGeom>
          <a:solidFill>
            <a:srgbClr val="1B4D7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Integration  20%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206240"/>
            <a:ext cx="4389120" cy="1143000"/>
          </a:xfrm>
          <a:prstGeom prst="rect">
            <a:avLst/>
          </a:prstGeom>
          <a:solidFill>
            <a:srgbClr val="0D1B2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Unit  70%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Two source sets in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src/test (local)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src/androidTest (instrumented)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Your computer's JVM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Emulator or device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Android APIs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Stubbed, or real through Robolectric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./gradlew testDebugUnitTest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./gradlew connectedDebugAndroidTest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JUnit 4 essentials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@Test, @Before, @After, @get:Rule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assertEquals, assertTrue, assertFalse, assertNull, assertThrows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@RunWith changes which runner executes the 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JUnit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20040"/>
            <a:ext cx="640080" cy="50292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0D1B2A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5212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B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182880" bIns="182880" rtlCol="0" anchor="t"/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class CalculatorTest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private lateinit var calc: Calculator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@Before fun setUp() { calc = Calculator() }            // Arrange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@Test fun add_twoPositives_returnsSum()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val result = calc.add(2, 3)                         // Act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assertEquals(5, result)                             // Assert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@Test fun divide_byZero_throws()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assertThrows(ArithmeticException::class.java) {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    calc.divide(1, 0)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The Android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Local tests compile against a stubbed </a:t>
            </a:r>
            <a:r>
              <a:rPr sz="2000" b="0" i="0" dirty="0" err="1">
                <a:solidFill>
                  <a:srgbClr val="0D1B2A"/>
                </a:solidFill>
                <a:latin typeface="Calibri"/>
              </a:rPr>
              <a:t>android.jar</a:t>
            </a:r>
            <a:endParaRPr sz="2000" b="0" i="0" dirty="0">
              <a:solidFill>
                <a:srgbClr val="0D1B2A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Android calls fail with "Method ... not mocked", or return null</a:t>
            </a:r>
          </a:p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Two fixes: keep logic free of Android code (best), or use </a:t>
            </a:r>
            <a:r>
              <a:rPr sz="2000" b="0" i="0" dirty="0" err="1">
                <a:solidFill>
                  <a:srgbClr val="0D1B2A"/>
                </a:solidFill>
                <a:latin typeface="Calibri"/>
              </a:rPr>
              <a:t>Robolectric</a:t>
            </a:r>
            <a:endParaRPr sz="2000" b="0" i="0" dirty="0">
              <a:solidFill>
                <a:srgbClr val="0D1B2A"/>
              </a:solidFill>
              <a:latin typeface="Calibri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8595360" y="2011680"/>
            <a:ext cx="2743200" cy="2377440"/>
          </a:xfrm>
          <a:prstGeom prst="triangl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0"/>
              </a:spcBef>
            </a:pPr>
            <a:r>
              <a:rPr sz="5400" b="1" i="0">
                <a:solidFill>
                  <a:srgbClr val="0D1B2A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44805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5A6A7A"/>
                </a:solidFill>
                <a:latin typeface="Consolas"/>
              </a:rPr>
              <a:t>Method ... not mocked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Robolectric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Runs real Android framework code on the JVM</a:t>
            </a:r>
          </a:p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Can start Activities, inflate layouts and read resources</a:t>
            </a:r>
          </a:p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Runs in seconds with no emulator</a:t>
            </a:r>
          </a:p>
          <a:p>
            <a:pPr>
              <a:spcAft>
                <a:spcPts val="1000"/>
              </a:spcAft>
            </a:pPr>
            <a:r>
              <a:rPr sz="2000" b="0" i="0" dirty="0">
                <a:solidFill>
                  <a:srgbClr val="0D1B2A"/>
                </a:solidFill>
                <a:latin typeface="Calibri"/>
              </a:rPr>
              <a:t>•  Its limit: it isn't a real device (no real rendering or hardware)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8686800" cy="1554480"/>
          </a:xfrm>
          <a:prstGeom prst="rect">
            <a:avLst/>
          </a:prstGeom>
          <a:solidFill>
            <a:srgbClr val="1E1E2E"/>
          </a:solidFill>
          <a:ln>
            <a:solidFill>
              <a:srgbClr val="1B4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ctr"/>
          <a:lstStyle/>
          <a:p>
            <a:pPr algn="ctr"/>
            <a:r>
              <a:rPr sz="1500" b="0" i="0">
                <a:solidFill>
                  <a:srgbClr val="E6E6E6"/>
                </a:solidFill>
                <a:latin typeface="Consolas"/>
              </a:rPr>
              <a:t>@RunWith(AndroidJUnit4::class)</a:t>
            </a:r>
          </a:p>
          <a:p>
            <a:r>
              <a:rPr sz="1500" b="0" i="0">
                <a:solidFill>
                  <a:srgbClr val="E6E6E6"/>
                </a:solidFill>
                <a:latin typeface="Consolas"/>
              </a:rPr>
              <a:t>@Config(sdk = [35])</a:t>
            </a:r>
          </a:p>
          <a:p>
            <a:r>
              <a:rPr sz="1500" b="0" i="0">
                <a:solidFill>
                  <a:srgbClr val="E6E6E6"/>
                </a:solidFill>
                <a:latin typeface="Consolas"/>
              </a:rPr>
              <a:t>class MyTest { ...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Espresso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UI testing framework for XML (View-based) screens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Formula: onView(matcher).perform(action).check(assertion)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Waits for the UI thread to be idle, so you never need Thread.sleep()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Launch a screen with ActivityScenarioRule(MyActivity::class.java)</a:t>
            </a:r>
          </a:p>
        </p:txBody>
      </p:sp>
      <p:sp>
        <p:nvSpPr>
          <p:cNvPr id="7" name="Chevron 6"/>
          <p:cNvSpPr/>
          <p:nvPr/>
        </p:nvSpPr>
        <p:spPr>
          <a:xfrm>
            <a:off x="1188720" y="4572000"/>
            <a:ext cx="2926080" cy="1097280"/>
          </a:xfrm>
          <a:prstGeom prst="chevron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onView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matcher</a:t>
            </a:r>
          </a:p>
        </p:txBody>
      </p:sp>
      <p:sp>
        <p:nvSpPr>
          <p:cNvPr id="8" name="Chevron 7"/>
          <p:cNvSpPr/>
          <p:nvPr/>
        </p:nvSpPr>
        <p:spPr>
          <a:xfrm>
            <a:off x="3794760" y="4572000"/>
            <a:ext cx="2926080" cy="1097280"/>
          </a:xfrm>
          <a:prstGeom prst="chevron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0D1B2A"/>
                </a:solidFill>
                <a:latin typeface="Calibri"/>
              </a:rPr>
              <a:t>perform</a:t>
            </a:r>
          </a:p>
          <a:p>
            <a:pPr algn="ctr"/>
            <a:r>
              <a:rPr sz="1400" b="0" i="0">
                <a:solidFill>
                  <a:srgbClr val="0D1B2A"/>
                </a:solidFill>
                <a:latin typeface="Calibri"/>
              </a:rPr>
              <a:t>action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6400800" y="4572000"/>
            <a:ext cx="2926080" cy="1097280"/>
          </a:xfrm>
          <a:prstGeom prst="chevron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check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assertion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Espresso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Matchers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withId, withText, withHint, isDisplayed, isEnabled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Actions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click(), typeText(), replaceText(), closeSoftKeyboard(), scrollTo()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Assertions</a:t>
            </a:r>
          </a:p>
          <a:p>
            <a:pPr lvl="1">
              <a:spcAft>
                <a:spcPts val="1000"/>
              </a:spcAft>
            </a:pPr>
            <a:r>
              <a:rPr sz="1800" b="0" i="0">
                <a:solidFill>
                  <a:srgbClr val="5A6A7A"/>
                </a:solidFill>
                <a:latin typeface="Calibri"/>
              </a:rPr>
              <a:t>–  matches(...), doesNotExist()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Testing Compose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Composables aren't Views, so Espresso's onView can't find them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Compose tests read the semantics tree — meaning rather than pixels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createComposeRule() tests a single composable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createAndroidComposeRule&lt;MainActivity&gt;() tests a whole Activity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The rule uses Espresso internally to wait for the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834640"/>
            <a:ext cx="2011680" cy="7315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389120"/>
            <a:ext cx="1417320" cy="6858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TextField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4389120"/>
            <a:ext cx="1417320" cy="685800"/>
          </a:xfrm>
          <a:prstGeom prst="round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0D1B2A"/>
                </a:solidFill>
                <a:latin typeface="Calibri"/>
              </a:rPr>
              <a:t>Button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81360" y="4389120"/>
            <a:ext cx="1417320" cy="685800"/>
          </a:xfrm>
          <a:prstGeom prst="roundRect">
            <a:avLst/>
          </a:prstGeom>
          <a:solidFill>
            <a:srgbClr val="1B4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List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115300" y="3566160"/>
            <a:ext cx="1485900" cy="822960"/>
          </a:xfrm>
          <a:prstGeom prst="bentConnector3">
            <a:avLst/>
          </a:prstGeom>
          <a:ln w="19050">
            <a:solidFill>
              <a:srgbClr val="5A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601200" y="3566160"/>
            <a:ext cx="251460" cy="822960"/>
          </a:xfrm>
          <a:prstGeom prst="bentConnector3">
            <a:avLst/>
          </a:prstGeom>
          <a:ln w="19050">
            <a:solidFill>
              <a:srgbClr val="5A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0" y="3566160"/>
            <a:ext cx="1988820" cy="822960"/>
          </a:xfrm>
          <a:prstGeom prst="bentConnector3">
            <a:avLst/>
          </a:prstGeom>
          <a:ln w="19050">
            <a:solidFill>
              <a:srgbClr val="5A6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Compose testing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0D1B2A"/>
                </a:solidFill>
                <a:latin typeface="Calibri"/>
              </a:rPr>
              <a:t>•  Finders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A6A7A"/>
                </a:solidFill>
                <a:latin typeface="Calibri"/>
              </a:rPr>
              <a:t>–  onNodeWithText, onNodeWithTag, onNodeWithContentDescription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D1B2A"/>
                </a:solidFill>
                <a:latin typeface="Calibri"/>
              </a:rPr>
              <a:t>•  Actions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A6A7A"/>
                </a:solidFill>
                <a:latin typeface="Calibri"/>
              </a:rPr>
              <a:t>–  performClick(), performTextInput(), performScrollTo()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D1B2A"/>
                </a:solidFill>
                <a:latin typeface="Calibri"/>
              </a:rPr>
              <a:t>•  Assertions</a:t>
            </a:r>
          </a:p>
          <a:p>
            <a:pPr lvl="1">
              <a:spcAft>
                <a:spcPts val="1000"/>
              </a:spcAft>
            </a:pPr>
            <a:r>
              <a:rPr sz="1700" b="0" i="0">
                <a:solidFill>
                  <a:srgbClr val="5A6A7A"/>
                </a:solidFill>
                <a:latin typeface="Calibri"/>
              </a:rPr>
              <a:t>–  assertIsDisplayed(), assertIsEnabled(), assertIsNotEnabled(), assertDoesNotExist()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0D1B2A"/>
                </a:solidFill>
                <a:latin typeface="Calibri"/>
              </a:rPr>
              <a:t>•  Label nodes with Modifier.testTag("id"), similar to R.id in XML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Choosing a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154176"/>
              </p:ext>
            </p:extLst>
          </p:nvPr>
        </p:nvGraphicFramePr>
        <p:xfrm>
          <a:off x="644434" y="1554480"/>
          <a:ext cx="1087700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What you test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Test type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Source set</a:t>
                      </a:r>
                    </a:p>
                  </a:txBody>
                  <a:tcPr>
                    <a:solidFill>
                      <a:srgbClr val="1B4D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One Kotlin class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JUnit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Several classes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JUnit (+ </a:t>
                      </a:r>
                      <a:r>
                        <a:rPr sz="1300" b="0" i="0" dirty="0" err="1">
                          <a:solidFill>
                            <a:srgbClr val="0D1B2A"/>
                          </a:solidFill>
                          <a:latin typeface="Calibri"/>
                        </a:rPr>
                        <a:t>Robolectric</a:t>
                      </a:r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 if Android)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XML screen, fast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Espresso on </a:t>
                      </a:r>
                      <a:r>
                        <a:rPr sz="1300" b="0" i="0" dirty="0" err="1">
                          <a:solidFill>
                            <a:srgbClr val="0D1B2A"/>
                          </a:solidFill>
                          <a:latin typeface="Calibri"/>
                        </a:rPr>
                        <a:t>Robolectric</a:t>
                      </a:r>
                      <a:endParaRPr sz="1300" b="0" i="0" dirty="0">
                        <a:solidFill>
                          <a:srgbClr val="0D1B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XML screen, realistic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Espresso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0D1B2A"/>
                          </a:solidFill>
                          <a:latin typeface="Calibri"/>
                        </a:rPr>
                        <a:t>androidTest</a:t>
                      </a:r>
                      <a:endParaRPr sz="1300" b="0" i="0" dirty="0">
                        <a:solidFill>
                          <a:srgbClr val="0D1B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Compose screen, fast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Compose test on </a:t>
                      </a:r>
                      <a:r>
                        <a:rPr sz="1300" b="0" i="0" dirty="0" err="1">
                          <a:solidFill>
                            <a:srgbClr val="0D1B2A"/>
                          </a:solidFill>
                          <a:latin typeface="Calibri"/>
                        </a:rPr>
                        <a:t>Robolectric</a:t>
                      </a:r>
                      <a:endParaRPr sz="1300" b="0" i="0" dirty="0">
                        <a:solidFill>
                          <a:srgbClr val="0D1B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1B2A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Compose screen, realistic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>
                          <a:solidFill>
                            <a:srgbClr val="0D1B2A"/>
                          </a:solidFill>
                          <a:latin typeface="Calibri"/>
                        </a:rPr>
                        <a:t>Compose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dirty="0" err="1">
                          <a:solidFill>
                            <a:srgbClr val="0D1B2A"/>
                          </a:solidFill>
                          <a:latin typeface="Calibri"/>
                        </a:rPr>
                        <a:t>androidTest</a:t>
                      </a:r>
                      <a:endParaRPr sz="1300" b="0" i="0" dirty="0">
                        <a:solidFill>
                          <a:srgbClr val="0D1B2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0D1B2A"/>
                </a:solidFill>
                <a:latin typeface="Calibri"/>
              </a:rPr>
              <a:t>Running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47120" y="365760"/>
            <a:ext cx="640080" cy="502920"/>
          </a:xfrm>
          <a:prstGeom prst="rect">
            <a:avLst/>
          </a:prstGeom>
          <a:solidFill>
            <a:srgbClr val="1B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In Android Studio, click the green ▶ next to a test or class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./gradlew testDebugUnitTest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./gradlew connectedDebugAndroidTest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0D1B2A"/>
                </a:solidFill>
                <a:latin typeface="Calibri"/>
              </a:rPr>
              <a:t>•  Reports are in app/build/reports/tests/ and app/build/reports/androidTests/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Summary and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2194560" cy="54864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F2F4F7"/>
                </a:solidFill>
                <a:latin typeface="Calibri"/>
              </a:rPr>
              <a:t>•  Unit tests check one piece, integration tests check pieces together, UI tests check what the user sees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F2F4F7"/>
                </a:solidFill>
                <a:latin typeface="Calibri"/>
              </a:rPr>
              <a:t>•  JUnit is the base, Robolectric brings Android to the JVM, Espresso and Compose tests drive the UI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DDC84"/>
                </a:solidFill>
                <a:latin typeface="Calibri"/>
              </a:rPr>
              <a:t>•  Exercise 1: XML Login screen</a:t>
            </a:r>
          </a:p>
          <a:p>
            <a:pPr>
              <a:spcAft>
                <a:spcPts val="1400"/>
              </a:spcAft>
            </a:pPr>
            <a:r>
              <a:rPr sz="2200" b="1" i="0">
                <a:solidFill>
                  <a:srgbClr val="3DDC84"/>
                </a:solidFill>
                <a:latin typeface="Calibri"/>
              </a:rPr>
              <a:t>•  Exercise 2: Compose Todo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5093</TotalTime>
  <Words>1079</Words>
  <Application>Microsoft Macintosh PowerPoint</Application>
  <PresentationFormat>Widescreen</PresentationFormat>
  <Paragraphs>199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Moreno</cp:lastModifiedBy>
  <cp:revision>2</cp:revision>
  <dcterms:created xsi:type="dcterms:W3CDTF">2013-01-27T09:14:16Z</dcterms:created>
  <dcterms:modified xsi:type="dcterms:W3CDTF">2026-09-29T23:24:31Z</dcterms:modified>
  <cp:category/>
</cp:coreProperties>
</file>